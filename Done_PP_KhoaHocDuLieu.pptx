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1" r:id="rId6"/>
    <p:sldId id="263" r:id="rId7"/>
    <p:sldId id="265" r:id="rId8"/>
    <p:sldId id="267" r:id="rId9"/>
    <p:sldId id="276" r:id="rId10"/>
    <p:sldId id="269" r:id="rId11"/>
    <p:sldId id="277" r:id="rId12"/>
    <p:sldId id="271" r:id="rId13"/>
    <p:sldId id="278" r:id="rId14"/>
    <p:sldId id="273" r:id="rId15"/>
    <p:sldId id="275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82" autoAdjust="0"/>
    <p:restoredTop sz="94988" autoAdjust="0"/>
  </p:normalViewPr>
  <p:slideViewPr>
    <p:cSldViewPr snapToGrid="0" snapToObjects="1">
      <p:cViewPr>
        <p:scale>
          <a:sx n="115" d="100"/>
          <a:sy n="115" d="100"/>
        </p:scale>
        <p:origin x="408" y="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4918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2531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2E86C1">
              <a:alpha val="25000"/>
            </a:srgbClr>
          </a:solidFill>
          <a:ln w="12700">
            <a:solidFill>
              <a:srgbClr val="2E86C1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F39C12">
              <a:alpha val="20000"/>
            </a:srgbClr>
          </a:solidFill>
          <a:ln w="12700">
            <a:solidFill>
              <a:srgbClr val="F39C12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39" y="91440"/>
            <a:ext cx="8056273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vi-VN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TÍCH XU HƯỚNG TUYỂN DỤNG VÀ DỰ ĐOÁN </a:t>
            </a:r>
            <a:r>
              <a:rPr lang="vi-VN" sz="36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MỨC </a:t>
            </a:r>
            <a:r>
              <a:rPr lang="vi-VN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LƯƠNG VIỆC LÀM TẠI VIỆT NAM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492081"/>
            <a:ext cx="6858000" cy="10153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 err="1" smtClean="0">
                <a:solidFill>
                  <a:srgbClr val="AED6F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Thực</a:t>
            </a:r>
            <a:r>
              <a:rPr lang="en-US" sz="1600" dirty="0" smtClean="0">
                <a:solidFill>
                  <a:srgbClr val="AED6F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600" dirty="0" err="1" smtClean="0">
                <a:solidFill>
                  <a:srgbClr val="AED6F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hiện</a:t>
            </a:r>
            <a:r>
              <a:rPr lang="en-US" sz="1600" dirty="0" smtClean="0">
                <a:solidFill>
                  <a:srgbClr val="AED6F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: </a:t>
            </a:r>
            <a:r>
              <a:rPr lang="en-US" sz="1600" dirty="0" err="1" smtClean="0">
                <a:solidFill>
                  <a:srgbClr val="AED6F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Nguyễn</a:t>
            </a:r>
            <a:r>
              <a:rPr lang="en-US" sz="1600" dirty="0" smtClean="0">
                <a:solidFill>
                  <a:srgbClr val="AED6F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600" dirty="0" err="1" smtClean="0">
                <a:solidFill>
                  <a:srgbClr val="AED6F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Đức</a:t>
            </a:r>
            <a:r>
              <a:rPr lang="en-US" sz="1600" dirty="0" smtClean="0">
                <a:solidFill>
                  <a:srgbClr val="AED6F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600" dirty="0" err="1" smtClean="0">
                <a:solidFill>
                  <a:srgbClr val="AED6F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Dương</a:t>
            </a:r>
            <a:endParaRPr lang="en-US" sz="1600" dirty="0" smtClean="0">
              <a:solidFill>
                <a:srgbClr val="AED6F1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 smtClean="0">
                <a:solidFill>
                  <a:srgbClr val="AED6F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                   </a:t>
            </a:r>
            <a:r>
              <a:rPr lang="en-US" sz="1600" dirty="0" err="1" smtClean="0">
                <a:solidFill>
                  <a:srgbClr val="AED6F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Lớp</a:t>
            </a:r>
            <a:r>
              <a:rPr lang="en-US" sz="1600" dirty="0" smtClean="0">
                <a:solidFill>
                  <a:srgbClr val="AED6F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: K58KTP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 smtClean="0">
                <a:solidFill>
                  <a:srgbClr val="AED6F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                   MSSV: K225480106093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 smtClean="0">
                <a:solidFill>
                  <a:srgbClr val="AED6F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GVHD: TS. </a:t>
            </a:r>
            <a:r>
              <a:rPr lang="en-US" sz="1600" dirty="0" err="1" smtClean="0">
                <a:solidFill>
                  <a:srgbClr val="AED6F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Nguyễn</a:t>
            </a:r>
            <a:r>
              <a:rPr lang="en-US" sz="1600" dirty="0" smtClean="0">
                <a:solidFill>
                  <a:srgbClr val="AED6F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600" dirty="0" err="1" smtClean="0">
                <a:solidFill>
                  <a:srgbClr val="AED6F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Văn</a:t>
            </a:r>
            <a:r>
              <a:rPr lang="en-US" sz="1600" dirty="0" smtClean="0">
                <a:solidFill>
                  <a:srgbClr val="AED6F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600" dirty="0" err="1" smtClean="0">
                <a:solidFill>
                  <a:srgbClr val="AED6F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Huy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38" y="4124694"/>
            <a:ext cx="8056273" cy="45719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GIỚI THIỆU ĐỀ TÀI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14800" cy="1737360"/>
          </a:xfrm>
          <a:prstGeom prst="roundRect">
            <a:avLst>
              <a:gd name="adj" fmla="val 5263"/>
            </a:avLst>
          </a:prstGeom>
          <a:solidFill>
            <a:srgbClr val="EBF5FB"/>
          </a:solidFill>
          <a:ln w="19050">
            <a:solidFill>
              <a:srgbClr val="D6EA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801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52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Mục tiêu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toàn diện thị trường việc làm Việt Nam từ dữ liệu tuyển dụng thực tế, khám phá xu hướng lương, ngành nghề và dự đoán thu nhập.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114800" cy="1737360"/>
          </a:xfrm>
          <a:prstGeom prst="roundRect">
            <a:avLst>
              <a:gd name="adj" fmla="val 5263"/>
            </a:avLst>
          </a:prstGeom>
          <a:solidFill>
            <a:srgbClr val="EBF5FB"/>
          </a:solidFill>
          <a:ln w="19050">
            <a:solidFill>
              <a:srgbClr val="D6EA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2801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52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Dữ liệu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0" y="16916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Tập dữ liệu vietnam_jobs_dataset.csv với 85.470 bản ghi sau làm sạch, bao gồm ngành nghề, địa điểm, mức lương, kinh nghiệm và cấp bậc.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3063240"/>
            <a:ext cx="4114800" cy="1737360"/>
          </a:xfrm>
          <a:prstGeom prst="roundRect">
            <a:avLst>
              <a:gd name="adj" fmla="val 5263"/>
            </a:avLst>
          </a:prstGeom>
          <a:solidFill>
            <a:srgbClr val="EBF5FB"/>
          </a:solidFill>
          <a:ln w="19050">
            <a:solidFill>
              <a:srgbClr val="D6EA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3154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52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Công cụ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356616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Pandas, Seaborn, Matplotlib, Scikit-learn (Random Forest, K-Means), thực hiện 7 câu hỏi phân tích từ khám phá dữ liệu đến học máy.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3063240"/>
            <a:ext cx="4114800" cy="1737360"/>
          </a:xfrm>
          <a:prstGeom prst="roundRect">
            <a:avLst>
              <a:gd name="adj" fmla="val 5263"/>
            </a:avLst>
          </a:prstGeom>
          <a:solidFill>
            <a:srgbClr val="EBF5FB"/>
          </a:solidFill>
          <a:ln w="19050">
            <a:solidFill>
              <a:srgbClr val="D6EA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3154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52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quả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46320" y="356616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Trực quan hóa biểu đồ, bảng thống kê, mô hình dự đoán lương và phân cụm thị trường việc làm thành các nhóm đặc trưng.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HỆ THỐNG LÀM GÌ VÀ LÀM NHƯ THẾ NÀO?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371600" cy="1371600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4173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2880" y="26517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thập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2880" y="3291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85.470 dòng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645920" y="1874520"/>
            <a:ext cx="347472" cy="0"/>
          </a:xfrm>
          <a:prstGeom prst="line">
            <a:avLst/>
          </a:prstGeom>
          <a:noFill/>
          <a:ln w="31750">
            <a:solidFill>
              <a:srgbClr val="2E86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93392" y="1188720"/>
            <a:ext cx="1371600" cy="1371600"/>
          </a:xfrm>
          <a:prstGeom prst="ellipse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93392" y="14173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901952" y="26517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sạch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01952" y="3291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thiếu, chuẩn hóa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64992" y="1874520"/>
            <a:ext cx="347472" cy="0"/>
          </a:xfrm>
          <a:prstGeom prst="line">
            <a:avLst/>
          </a:prstGeom>
          <a:noFill/>
          <a:ln w="31750">
            <a:solidFill>
              <a:srgbClr val="2E86C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12464" y="1188720"/>
            <a:ext cx="1371600" cy="1371600"/>
          </a:xfrm>
          <a:prstGeom prst="ellipse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12464" y="14173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621024" y="26517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Khám phá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21024" y="3291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câu hỏi EDA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84064" y="1874520"/>
            <a:ext cx="347472" cy="0"/>
          </a:xfrm>
          <a:prstGeom prst="line">
            <a:avLst/>
          </a:prstGeom>
          <a:noFill/>
          <a:ln w="31750">
            <a:solidFill>
              <a:srgbClr val="2E86C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31536" y="1188720"/>
            <a:ext cx="1371600" cy="137160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31536" y="14173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340096" y="26517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Máy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đoán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40096" y="3291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03136" y="1874520"/>
            <a:ext cx="347472" cy="0"/>
          </a:xfrm>
          <a:prstGeom prst="line">
            <a:avLst/>
          </a:prstGeom>
          <a:noFill/>
          <a:ln w="31750">
            <a:solidFill>
              <a:srgbClr val="2E86C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50608" y="1188720"/>
            <a:ext cx="1371600" cy="13716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50608" y="14173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059168" y="26517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cụm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59168" y="3291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nhóm thị trường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576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xử lý từ dữ liệu thô → Trực quan hóa → Mô hình dự đoán → Kết luận chiến lược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 - Q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228600" y="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vi-VN" sz="1800" b="1" dirty="0">
                <a:solidFill>
                  <a:srgbClr val="FFFFFF"/>
                </a:solidFill>
                <a:latin typeface="Cambria" pitchFamily="34" charset="0"/>
              </a:rPr>
              <a:t>CÂU HỎI 1: Ngành nghề nào được tuyển dụng nhiều nhất?</a:t>
            </a:r>
          </a:p>
        </p:txBody>
      </p:sp>
      <p:pic>
        <p:nvPicPr>
          <p:cNvPr id="4" name="Chart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4400"/>
            <a:ext cx="4800600" cy="4229100"/>
          </a:xfrm>
          <a:prstGeom prst="rect">
            <a:avLst/>
          </a:prstGeom>
        </p:spPr>
      </p:pic>
      <p:sp>
        <p:nvSpPr>
          <p:cNvPr id="5" name="MethodHeader"/>
          <p:cNvSpPr/>
          <p:nvPr/>
        </p:nvSpPr>
        <p:spPr>
          <a:xfrm>
            <a:off x="4914000" y="960480"/>
            <a:ext cx="409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1400" b="1" dirty="0">
                <a:solidFill>
                  <a:srgbClr val="1A5276"/>
                </a:solidFill>
                <a:latin typeface="Cambria" pitchFamily="34" charset="0"/>
              </a:rPr>
              <a:t>Phương pháp thực hiện:</a:t>
            </a:r>
          </a:p>
        </p:txBody>
      </p:sp>
      <p:sp>
        <p:nvSpPr>
          <p:cNvPr id="10" name="Circle1"/>
          <p:cNvSpPr/>
          <p:nvPr/>
        </p:nvSpPr>
        <p:spPr>
          <a:xfrm>
            <a:off x="4914000" y="1371600"/>
            <a:ext cx="320040" cy="320040"/>
          </a:xfrm>
          <a:prstGeom prst="ellipse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1" name="Num1"/>
          <p:cNvSpPr/>
          <p:nvPr/>
        </p:nvSpPr>
        <p:spPr>
          <a:xfrm>
            <a:off x="4914000" y="1371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</a:rPr>
              <a:t>1</a:t>
            </a:r>
          </a:p>
        </p:txBody>
      </p:sp>
      <p:sp>
        <p:nvSpPr>
          <p:cNvPr id="12" name="Step1Text"/>
          <p:cNvSpPr/>
          <p:nvPr/>
        </p:nvSpPr>
        <p:spPr>
          <a:xfrm>
            <a:off x="5288400" y="1381600"/>
            <a:ext cx="3720240" cy="9000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vi-VN" sz="1100" dirty="0">
                <a:solidFill>
                  <a:srgbClr val="1C2833"/>
                </a:solidFill>
                <a:latin typeface="Calibri" pitchFamily="34" charset="0"/>
              </a:rPr>
              <a:t>Tách (explode) cột job_fields bằng dấu phẩy — mỗi ngành nghề thành một dòng riêng.</a:t>
            </a:r>
          </a:p>
        </p:txBody>
      </p:sp>
      <p:sp>
        <p:nvSpPr>
          <p:cNvPr id="13" name="Circle2"/>
          <p:cNvSpPr/>
          <p:nvPr/>
        </p:nvSpPr>
        <p:spPr>
          <a:xfrm>
            <a:off x="4914000" y="2291625"/>
            <a:ext cx="320040" cy="320040"/>
          </a:xfrm>
          <a:prstGeom prst="ellipse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4" name="Num2"/>
          <p:cNvSpPr/>
          <p:nvPr/>
        </p:nvSpPr>
        <p:spPr>
          <a:xfrm>
            <a:off x="4914000" y="2291625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</a:rPr>
              <a:t>2</a:t>
            </a:r>
          </a:p>
        </p:txBody>
      </p:sp>
      <p:sp>
        <p:nvSpPr>
          <p:cNvPr id="15" name="Step2Text"/>
          <p:cNvSpPr/>
          <p:nvPr/>
        </p:nvSpPr>
        <p:spPr>
          <a:xfrm>
            <a:off x="5288400" y="2301625"/>
            <a:ext cx="3720240" cy="9000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vi-VN" sz="1100" dirty="0">
                <a:solidFill>
                  <a:srgbClr val="1C2833"/>
                </a:solidFill>
                <a:latin typeface="Calibri" pitchFamily="34" charset="0"/>
              </a:rPr>
              <a:t>Dùng .value_counts().head(10) để đếm tần suất xuất hiện và lấy top 10.</a:t>
            </a:r>
          </a:p>
        </p:txBody>
      </p:sp>
      <p:sp>
        <p:nvSpPr>
          <p:cNvPr id="16" name="Circle3"/>
          <p:cNvSpPr/>
          <p:nvPr/>
        </p:nvSpPr>
        <p:spPr>
          <a:xfrm>
            <a:off x="4914000" y="3211650"/>
            <a:ext cx="320040" cy="320040"/>
          </a:xfrm>
          <a:prstGeom prst="ellipse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7" name="Num3"/>
          <p:cNvSpPr/>
          <p:nvPr/>
        </p:nvSpPr>
        <p:spPr>
          <a:xfrm>
            <a:off x="4914000" y="321165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</a:rPr>
              <a:t>3</a:t>
            </a:r>
          </a:p>
        </p:txBody>
      </p:sp>
      <p:sp>
        <p:nvSpPr>
          <p:cNvPr id="18" name="Step3Text"/>
          <p:cNvSpPr/>
          <p:nvPr/>
        </p:nvSpPr>
        <p:spPr>
          <a:xfrm>
            <a:off x="5288400" y="3221650"/>
            <a:ext cx="3720240" cy="9000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vi-VN" sz="1100" dirty="0">
                <a:solidFill>
                  <a:srgbClr val="1C2833"/>
                </a:solidFill>
                <a:latin typeface="Calibri" pitchFamily="34" charset="0"/>
              </a:rPr>
              <a:t>Vẽ biểu đồ cột ngang (sns.barplot) với palette 'viridis' để trực quan hóa.</a:t>
            </a:r>
          </a:p>
        </p:txBody>
      </p:sp>
      <p:sp>
        <p:nvSpPr>
          <p:cNvPr id="19" name="Circle4"/>
          <p:cNvSpPr/>
          <p:nvPr/>
        </p:nvSpPr>
        <p:spPr>
          <a:xfrm>
            <a:off x="4914000" y="4131675"/>
            <a:ext cx="320040" cy="320040"/>
          </a:xfrm>
          <a:prstGeom prst="ellipse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20" name="Num4"/>
          <p:cNvSpPr/>
          <p:nvPr/>
        </p:nvSpPr>
        <p:spPr>
          <a:xfrm>
            <a:off x="4914000" y="4131675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</a:rPr>
              <a:t>4</a:t>
            </a:r>
          </a:p>
        </p:txBody>
      </p:sp>
      <p:sp>
        <p:nvSpPr>
          <p:cNvPr id="21" name="Step4Text"/>
          <p:cNvSpPr/>
          <p:nvPr/>
        </p:nvSpPr>
        <p:spPr>
          <a:xfrm>
            <a:off x="5288400" y="4141675"/>
            <a:ext cx="3720240" cy="9000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vi-VN" sz="1100" dirty="0">
                <a:solidFill>
                  <a:srgbClr val="1C2833"/>
                </a:solidFill>
                <a:latin typeface="Calibri" pitchFamily="34" charset="0"/>
              </a:rPr>
              <a:t>Kết quả: Bán hàng/Kinh doanh, Kế toán/Tài chính và CNTT là 3 ngành tuyển dụng nhiều nhất.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 - Q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228600" y="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vi-VN" sz="1800" b="1" dirty="0">
                <a:solidFill>
                  <a:srgbClr val="FFFFFF"/>
                </a:solidFill>
                <a:latin typeface="Cambria" pitchFamily="34" charset="0"/>
              </a:rPr>
              <a:t>CÂU HỎI 2: Thành phố nào có nhu cầu tuyển dụng cao nhất?</a:t>
            </a:r>
          </a:p>
        </p:txBody>
      </p:sp>
      <p:pic>
        <p:nvPicPr>
          <p:cNvPr id="4" name="Chart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4400"/>
            <a:ext cx="4800600" cy="4229100"/>
          </a:xfrm>
          <a:prstGeom prst="rect">
            <a:avLst/>
          </a:prstGeom>
        </p:spPr>
      </p:pic>
      <p:sp>
        <p:nvSpPr>
          <p:cNvPr id="5" name="MethodHeader"/>
          <p:cNvSpPr/>
          <p:nvPr/>
        </p:nvSpPr>
        <p:spPr>
          <a:xfrm>
            <a:off x="4914000" y="960480"/>
            <a:ext cx="409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1400" b="1" dirty="0">
                <a:solidFill>
                  <a:srgbClr val="1A5276"/>
                </a:solidFill>
                <a:latin typeface="Cambria" pitchFamily="34" charset="0"/>
              </a:rPr>
              <a:t>Phương pháp thực hiện:</a:t>
            </a:r>
          </a:p>
        </p:txBody>
      </p:sp>
      <p:sp>
        <p:nvSpPr>
          <p:cNvPr id="10" name="Circle1"/>
          <p:cNvSpPr/>
          <p:nvPr/>
        </p:nvSpPr>
        <p:spPr>
          <a:xfrm>
            <a:off x="4914000" y="1371600"/>
            <a:ext cx="320040" cy="320040"/>
          </a:xfrm>
          <a:prstGeom prst="ellipse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1" name="Num1"/>
          <p:cNvSpPr/>
          <p:nvPr/>
        </p:nvSpPr>
        <p:spPr>
          <a:xfrm>
            <a:off x="4914000" y="1371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</a:rPr>
              <a:t>1</a:t>
            </a:r>
          </a:p>
        </p:txBody>
      </p:sp>
      <p:sp>
        <p:nvSpPr>
          <p:cNvPr id="12" name="Step1Text"/>
          <p:cNvSpPr/>
          <p:nvPr/>
        </p:nvSpPr>
        <p:spPr>
          <a:xfrm>
            <a:off x="5288400" y="1381600"/>
            <a:ext cx="3720240" cy="9000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vi-VN" sz="1100" dirty="0">
                <a:solidFill>
                  <a:srgbClr val="1C2833"/>
                </a:solidFill>
                <a:latin typeface="Calibri" pitchFamily="34" charset="0"/>
              </a:rPr>
              <a:t>Dùng df_clean['city'].value_counts().head(5) để thống kê tần suất theo thành phố.</a:t>
            </a:r>
          </a:p>
        </p:txBody>
      </p:sp>
      <p:sp>
        <p:nvSpPr>
          <p:cNvPr id="13" name="Circle2"/>
          <p:cNvSpPr/>
          <p:nvPr/>
        </p:nvSpPr>
        <p:spPr>
          <a:xfrm>
            <a:off x="4914000" y="2291625"/>
            <a:ext cx="320040" cy="320040"/>
          </a:xfrm>
          <a:prstGeom prst="ellipse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4" name="Num2"/>
          <p:cNvSpPr/>
          <p:nvPr/>
        </p:nvSpPr>
        <p:spPr>
          <a:xfrm>
            <a:off x="4914000" y="2291625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</a:rPr>
              <a:t>2</a:t>
            </a:r>
          </a:p>
        </p:txBody>
      </p:sp>
      <p:sp>
        <p:nvSpPr>
          <p:cNvPr id="15" name="Step2Text"/>
          <p:cNvSpPr/>
          <p:nvPr/>
        </p:nvSpPr>
        <p:spPr>
          <a:xfrm>
            <a:off x="5288400" y="2301625"/>
            <a:ext cx="3720240" cy="9000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vi-VN" sz="1100" dirty="0">
                <a:solidFill>
                  <a:srgbClr val="1C2833"/>
                </a:solidFill>
                <a:latin typeface="Calibri" pitchFamily="34" charset="0"/>
              </a:rPr>
              <a:t>Vẽ biểu đồ cột đứng (sns.barplot) với palette 'plasma' — màu đậm ứng với giá trị lớn hơn.</a:t>
            </a:r>
          </a:p>
        </p:txBody>
      </p:sp>
      <p:sp>
        <p:nvSpPr>
          <p:cNvPr id="16" name="Circle3"/>
          <p:cNvSpPr/>
          <p:nvPr/>
        </p:nvSpPr>
        <p:spPr>
          <a:xfrm>
            <a:off x="4914000" y="3211650"/>
            <a:ext cx="320040" cy="320040"/>
          </a:xfrm>
          <a:prstGeom prst="ellipse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7" name="Num3"/>
          <p:cNvSpPr/>
          <p:nvPr/>
        </p:nvSpPr>
        <p:spPr>
          <a:xfrm>
            <a:off x="4914000" y="321165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</a:rPr>
              <a:t>3</a:t>
            </a:r>
          </a:p>
        </p:txBody>
      </p:sp>
      <p:sp>
        <p:nvSpPr>
          <p:cNvPr id="18" name="Step3Text"/>
          <p:cNvSpPr/>
          <p:nvPr/>
        </p:nvSpPr>
        <p:spPr>
          <a:xfrm>
            <a:off x="5288400" y="3221650"/>
            <a:ext cx="3720240" cy="9000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vi-VN" sz="1100" dirty="0">
                <a:solidFill>
                  <a:srgbClr val="1C2833"/>
                </a:solidFill>
                <a:latin typeface="Calibri" pitchFamily="34" charset="0"/>
              </a:rPr>
              <a:t>TP. Hồ Chí Minh dẫn đầu với ~38.420 tin, gấp 1,3 lần Hà Nội (29.850 tin).</a:t>
            </a:r>
          </a:p>
        </p:txBody>
      </p:sp>
      <p:sp>
        <p:nvSpPr>
          <p:cNvPr id="19" name="Circle4"/>
          <p:cNvSpPr/>
          <p:nvPr/>
        </p:nvSpPr>
        <p:spPr>
          <a:xfrm>
            <a:off x="4914000" y="4131675"/>
            <a:ext cx="320040" cy="320040"/>
          </a:xfrm>
          <a:prstGeom prst="ellipse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20" name="Num4"/>
          <p:cNvSpPr/>
          <p:nvPr/>
        </p:nvSpPr>
        <p:spPr>
          <a:xfrm>
            <a:off x="4914000" y="4131675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</a:rPr>
              <a:t>4</a:t>
            </a:r>
          </a:p>
        </p:txBody>
      </p:sp>
      <p:sp>
        <p:nvSpPr>
          <p:cNvPr id="21" name="Step4Text"/>
          <p:cNvSpPr/>
          <p:nvPr/>
        </p:nvSpPr>
        <p:spPr>
          <a:xfrm>
            <a:off x="5288400" y="4141675"/>
            <a:ext cx="3720240" cy="9000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vi-VN" sz="1100" dirty="0">
                <a:solidFill>
                  <a:srgbClr val="1C2833"/>
                </a:solidFill>
                <a:latin typeface="Calibri" pitchFamily="34" charset="0"/>
              </a:rPr>
              <a:t>Thị trường lao động tập trung mạnh ở miền Nam — thông tin quan trọng cho chiến lược tuyển dụng.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 - Q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228600" y="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vi-VN" sz="1800" b="1" dirty="0">
                <a:solidFill>
                  <a:srgbClr val="FFFFFF"/>
                </a:solidFill>
                <a:latin typeface="Cambria" pitchFamily="34" charset="0"/>
              </a:rPr>
              <a:t>CÂU HỎI 3: Mức lương trung bình theo top 10 ngành nghề?</a:t>
            </a:r>
          </a:p>
        </p:txBody>
      </p:sp>
      <p:pic>
        <p:nvPicPr>
          <p:cNvPr id="4" name="Chart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4400"/>
            <a:ext cx="4800600" cy="4229100"/>
          </a:xfrm>
          <a:prstGeom prst="rect">
            <a:avLst/>
          </a:prstGeom>
        </p:spPr>
      </p:pic>
      <p:sp>
        <p:nvSpPr>
          <p:cNvPr id="5" name="MethodHeader"/>
          <p:cNvSpPr/>
          <p:nvPr/>
        </p:nvSpPr>
        <p:spPr>
          <a:xfrm>
            <a:off x="4914000" y="960480"/>
            <a:ext cx="409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1400" b="1" dirty="0">
                <a:solidFill>
                  <a:srgbClr val="1A5276"/>
                </a:solidFill>
                <a:latin typeface="Cambria" pitchFamily="34" charset="0"/>
              </a:rPr>
              <a:t>Phương pháp thực hiện:</a:t>
            </a:r>
          </a:p>
        </p:txBody>
      </p:sp>
      <p:sp>
        <p:nvSpPr>
          <p:cNvPr id="10" name="Circle1"/>
          <p:cNvSpPr/>
          <p:nvPr/>
        </p:nvSpPr>
        <p:spPr>
          <a:xfrm>
            <a:off x="4914000" y="1371600"/>
            <a:ext cx="320040" cy="320040"/>
          </a:xfrm>
          <a:prstGeom prst="ellipse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1" name="Num1"/>
          <p:cNvSpPr/>
          <p:nvPr/>
        </p:nvSpPr>
        <p:spPr>
          <a:xfrm>
            <a:off x="4914000" y="1371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</a:rPr>
              <a:t>1</a:t>
            </a:r>
          </a:p>
        </p:txBody>
      </p:sp>
      <p:sp>
        <p:nvSpPr>
          <p:cNvPr id="12" name="Step1Text"/>
          <p:cNvSpPr/>
          <p:nvPr/>
        </p:nvSpPr>
        <p:spPr>
          <a:xfrm>
            <a:off x="5288400" y="1381600"/>
            <a:ext cx="3720240" cy="9000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vi-VN" sz="1100" dirty="0">
                <a:solidFill>
                  <a:srgbClr val="1C2833"/>
                </a:solidFill>
                <a:latin typeface="Calibri" pitchFamily="34" charset="0"/>
              </a:rPr>
              <a:t>Explode cột job_fields → gộp lương trung bình theo ngành (groupby + mean).</a:t>
            </a:r>
          </a:p>
        </p:txBody>
      </p:sp>
      <p:sp>
        <p:nvSpPr>
          <p:cNvPr id="13" name="Circle2"/>
          <p:cNvSpPr/>
          <p:nvPr/>
        </p:nvSpPr>
        <p:spPr>
          <a:xfrm>
            <a:off x="4914000" y="2291625"/>
            <a:ext cx="320040" cy="320040"/>
          </a:xfrm>
          <a:prstGeom prst="ellipse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4" name="Num2"/>
          <p:cNvSpPr/>
          <p:nvPr/>
        </p:nvSpPr>
        <p:spPr>
          <a:xfrm>
            <a:off x="4914000" y="2291625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</a:rPr>
              <a:t>2</a:t>
            </a:r>
          </a:p>
        </p:txBody>
      </p:sp>
      <p:sp>
        <p:nvSpPr>
          <p:cNvPr id="15" name="Step2Text"/>
          <p:cNvSpPr/>
          <p:nvPr/>
        </p:nvSpPr>
        <p:spPr>
          <a:xfrm>
            <a:off x="5288400" y="2301625"/>
            <a:ext cx="3720240" cy="9000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vi-VN" sz="1100" dirty="0">
                <a:solidFill>
                  <a:srgbClr val="1C2833"/>
                </a:solidFill>
                <a:latin typeface="Calibri" pitchFamily="34" charset="0"/>
              </a:rPr>
              <a:t>Lọc top 10 ngành phổ biến nhất rồi sắp xếp theo lương giảm dần.</a:t>
            </a:r>
          </a:p>
        </p:txBody>
      </p:sp>
      <p:sp>
        <p:nvSpPr>
          <p:cNvPr id="16" name="Circle3"/>
          <p:cNvSpPr/>
          <p:nvPr/>
        </p:nvSpPr>
        <p:spPr>
          <a:xfrm>
            <a:off x="4914000" y="3211650"/>
            <a:ext cx="320040" cy="320040"/>
          </a:xfrm>
          <a:prstGeom prst="ellipse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7" name="Num3"/>
          <p:cNvSpPr/>
          <p:nvPr/>
        </p:nvSpPr>
        <p:spPr>
          <a:xfrm>
            <a:off x="4914000" y="321165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</a:rPr>
              <a:t>3</a:t>
            </a:r>
          </a:p>
        </p:txBody>
      </p:sp>
      <p:sp>
        <p:nvSpPr>
          <p:cNvPr id="18" name="Step3Text"/>
          <p:cNvSpPr/>
          <p:nvPr/>
        </p:nvSpPr>
        <p:spPr>
          <a:xfrm>
            <a:off x="5288400" y="3221650"/>
            <a:ext cx="3720240" cy="9000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vi-VN" sz="1100" dirty="0">
                <a:solidFill>
                  <a:srgbClr val="1C2833"/>
                </a:solidFill>
                <a:latin typeface="Calibri" pitchFamily="34" charset="0"/>
              </a:rPr>
              <a:t>Vẽ barplot ngang với palette 'coolwarm' — màu ấm (đỏ) = lương cao, màu lạnh (xanh) = thấp hơn.</a:t>
            </a:r>
          </a:p>
        </p:txBody>
      </p:sp>
      <p:sp>
        <p:nvSpPr>
          <p:cNvPr id="19" name="Circle4"/>
          <p:cNvSpPr/>
          <p:nvPr/>
        </p:nvSpPr>
        <p:spPr>
          <a:xfrm>
            <a:off x="4914000" y="4131675"/>
            <a:ext cx="320040" cy="320040"/>
          </a:xfrm>
          <a:prstGeom prst="ellipse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20" name="Num4"/>
          <p:cNvSpPr/>
          <p:nvPr/>
        </p:nvSpPr>
        <p:spPr>
          <a:xfrm>
            <a:off x="4914000" y="4131675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</a:rPr>
              <a:t>4</a:t>
            </a:r>
          </a:p>
        </p:txBody>
      </p:sp>
      <p:sp>
        <p:nvSpPr>
          <p:cNvPr id="21" name="Step4Text"/>
          <p:cNvSpPr/>
          <p:nvPr/>
        </p:nvSpPr>
        <p:spPr>
          <a:xfrm>
            <a:off x="5288400" y="4141675"/>
            <a:ext cx="3720240" cy="9000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vi-VN" sz="1100" dirty="0">
                <a:solidFill>
                  <a:srgbClr val="1C2833"/>
                </a:solidFill>
                <a:latin typeface="Calibri" pitchFamily="34" charset="0"/>
              </a:rPr>
              <a:t>Kết quả: CNTT (~28,5 tr) dẫn đầu; Giáo dục (~11,5 tr) thấp nhất trong top 10.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 - Q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228600" y="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vi-VN" sz="1800" b="1" dirty="0">
                <a:solidFill>
                  <a:srgbClr val="FFFFFF"/>
                </a:solidFill>
                <a:latin typeface="Cambria" pitchFamily="34" charset="0"/>
              </a:rPr>
              <a:t>CÂU HỎI 4: Xu hướng lương biến đổi theo kinh nghiệm?</a:t>
            </a:r>
          </a:p>
        </p:txBody>
      </p:sp>
      <p:pic>
        <p:nvPicPr>
          <p:cNvPr id="4" name="Chart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4400"/>
            <a:ext cx="4800600" cy="4229100"/>
          </a:xfrm>
          <a:prstGeom prst="rect">
            <a:avLst/>
          </a:prstGeom>
        </p:spPr>
      </p:pic>
      <p:sp>
        <p:nvSpPr>
          <p:cNvPr id="5" name="MethodHeader"/>
          <p:cNvSpPr/>
          <p:nvPr/>
        </p:nvSpPr>
        <p:spPr>
          <a:xfrm>
            <a:off x="4914000" y="960480"/>
            <a:ext cx="409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1400" b="1" dirty="0">
                <a:solidFill>
                  <a:srgbClr val="1A5276"/>
                </a:solidFill>
                <a:latin typeface="Cambria" pitchFamily="34" charset="0"/>
              </a:rPr>
              <a:t>Phương pháp thực hiện:</a:t>
            </a:r>
          </a:p>
        </p:txBody>
      </p:sp>
      <p:sp>
        <p:nvSpPr>
          <p:cNvPr id="10" name="Circle1"/>
          <p:cNvSpPr/>
          <p:nvPr/>
        </p:nvSpPr>
        <p:spPr>
          <a:xfrm>
            <a:off x="4914000" y="1371600"/>
            <a:ext cx="320040" cy="320040"/>
          </a:xfrm>
          <a:prstGeom prst="ellipse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1" name="Num1"/>
          <p:cNvSpPr/>
          <p:nvPr/>
        </p:nvSpPr>
        <p:spPr>
          <a:xfrm>
            <a:off x="4914000" y="1371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</a:rPr>
              <a:t>1</a:t>
            </a:r>
          </a:p>
        </p:txBody>
      </p:sp>
      <p:sp>
        <p:nvSpPr>
          <p:cNvPr id="12" name="Step1Text"/>
          <p:cNvSpPr/>
          <p:nvPr/>
        </p:nvSpPr>
        <p:spPr>
          <a:xfrm>
            <a:off x="5288400" y="1381600"/>
            <a:ext cx="3720240" cy="9000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vi-VN" sz="1100" dirty="0">
                <a:solidFill>
                  <a:srgbClr val="1C2833"/>
                </a:solidFill>
                <a:latin typeface="Calibri" pitchFamily="34" charset="0"/>
              </a:rPr>
              <a:t>Trích số năm từ cột experience bằng regex (str.extract), lưu vào exp_numeric.</a:t>
            </a:r>
          </a:p>
        </p:txBody>
      </p:sp>
      <p:sp>
        <p:nvSpPr>
          <p:cNvPr id="13" name="Circle2"/>
          <p:cNvSpPr/>
          <p:nvPr/>
        </p:nvSpPr>
        <p:spPr>
          <a:xfrm>
            <a:off x="4914000" y="2291625"/>
            <a:ext cx="320040" cy="320040"/>
          </a:xfrm>
          <a:prstGeom prst="ellipse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4" name="Num2"/>
          <p:cNvSpPr/>
          <p:nvPr/>
        </p:nvSpPr>
        <p:spPr>
          <a:xfrm>
            <a:off x="4914000" y="2291625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</a:rPr>
              <a:t>2</a:t>
            </a:r>
          </a:p>
        </p:txBody>
      </p:sp>
      <p:sp>
        <p:nvSpPr>
          <p:cNvPr id="15" name="Step2Text"/>
          <p:cNvSpPr/>
          <p:nvPr/>
        </p:nvSpPr>
        <p:spPr>
          <a:xfrm>
            <a:off x="5288400" y="2301625"/>
            <a:ext cx="3720240" cy="9000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vi-VN" sz="1100" dirty="0">
                <a:solidFill>
                  <a:srgbClr val="1C2833"/>
                </a:solidFill>
                <a:latin typeface="Calibri" pitchFamily="34" charset="0"/>
              </a:rPr>
              <a:t>Nhóm theo exp_numeric → tính lương trung bình (groupby + mean) → reset_index.</a:t>
            </a:r>
          </a:p>
        </p:txBody>
      </p:sp>
      <p:sp>
        <p:nvSpPr>
          <p:cNvPr id="16" name="Circle3"/>
          <p:cNvSpPr/>
          <p:nvPr/>
        </p:nvSpPr>
        <p:spPr>
          <a:xfrm>
            <a:off x="4914000" y="3211650"/>
            <a:ext cx="320040" cy="320040"/>
          </a:xfrm>
          <a:prstGeom prst="ellipse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7" name="Num3"/>
          <p:cNvSpPr/>
          <p:nvPr/>
        </p:nvSpPr>
        <p:spPr>
          <a:xfrm>
            <a:off x="4914000" y="321165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</a:rPr>
              <a:t>3</a:t>
            </a:r>
          </a:p>
        </p:txBody>
      </p:sp>
      <p:sp>
        <p:nvSpPr>
          <p:cNvPr id="18" name="Step3Text"/>
          <p:cNvSpPr/>
          <p:nvPr/>
        </p:nvSpPr>
        <p:spPr>
          <a:xfrm>
            <a:off x="5288400" y="3221650"/>
            <a:ext cx="3720240" cy="9000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vi-VN" sz="1100" dirty="0">
                <a:solidFill>
                  <a:srgbClr val="1C2833"/>
                </a:solidFill>
                <a:latin typeface="Calibri" pitchFamily="34" charset="0"/>
              </a:rPr>
              <a:t>Vẽ biểu đồ đường (sns.lineplot) với marker='o', màu crimson để nổi bật xu hướng.</a:t>
            </a:r>
          </a:p>
        </p:txBody>
      </p:sp>
      <p:sp>
        <p:nvSpPr>
          <p:cNvPr id="19" name="Circle4"/>
          <p:cNvSpPr/>
          <p:nvPr/>
        </p:nvSpPr>
        <p:spPr>
          <a:xfrm>
            <a:off x="4914000" y="4131675"/>
            <a:ext cx="320040" cy="320040"/>
          </a:xfrm>
          <a:prstGeom prst="ellipse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20" name="Num4"/>
          <p:cNvSpPr/>
          <p:nvPr/>
        </p:nvSpPr>
        <p:spPr>
          <a:xfrm>
            <a:off x="4914000" y="4131675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</a:rPr>
              <a:t>4</a:t>
            </a:r>
          </a:p>
        </p:txBody>
      </p:sp>
      <p:sp>
        <p:nvSpPr>
          <p:cNvPr id="21" name="Step4Text"/>
          <p:cNvSpPr/>
          <p:nvPr/>
        </p:nvSpPr>
        <p:spPr>
          <a:xfrm>
            <a:off x="5288400" y="4141675"/>
            <a:ext cx="3720240" cy="9000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vi-VN" sz="1100" dirty="0">
                <a:solidFill>
                  <a:srgbClr val="1C2833"/>
                </a:solidFill>
                <a:latin typeface="Calibri" pitchFamily="34" charset="0"/>
              </a:rPr>
              <a:t>Kết quả: Mỗi năm kinh nghiệm thêm tăng lương ~3-4 triệu; bước nhảy mạnh từ 3-7 năm.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CÂU HỎI 5: Phân phối lương theo cấp bậc vị trí?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Pivot: Thống kê lương (Triệu VND) theo Position Level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63040"/>
          <a:ext cx="8412480" cy="3538728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Cấp bậc / Vị trí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Lương TB (tr)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Thấp nhất (tr)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Cao nhất (tr)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Giám đốc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237.50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Giám đốc &amp; cấp cao hơn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8F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Chuyên gia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Chuyên viên / Nhân viên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318.00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Nhân viên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Cộng tác viên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Mới tốt nghiệp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Mới tốt nghiệp / Thực tập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229.50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F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Q5-Metho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vi-VN" sz="2000" b="1" dirty="0">
                <a:solidFill>
                  <a:srgbClr val="FFFFFF"/>
                </a:solidFill>
                <a:latin typeface="Cambria" pitchFamily="34" charset="0"/>
              </a:rPr>
              <a:t>CÂU HỎI 5: Phương pháp thực hiện</a:t>
            </a:r>
          </a:p>
        </p:txBody>
      </p:sp>
      <p:sp>
        <p:nvSpPr>
          <p:cNvPr id="4" name="MethodHeader"/>
          <p:cNvSpPr/>
          <p:nvPr/>
        </p:nvSpPr>
        <p:spPr>
          <a:xfrm>
            <a:off x="365760" y="1097280"/>
            <a:ext cx="409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sz="1400" b="1" dirty="0">
                <a:solidFill>
                  <a:srgbClr val="1E8449"/>
                </a:solidFill>
                <a:latin typeface="Cambria" pitchFamily="34" charset="0"/>
              </a:rPr>
              <a:t>Phương pháp thực hiện:</a:t>
            </a:r>
          </a:p>
        </p:txBody>
      </p:sp>
      <p:sp>
        <p:nvSpPr>
          <p:cNvPr id="10" name="Circle1"/>
          <p:cNvSpPr/>
          <p:nvPr/>
        </p:nvSpPr>
        <p:spPr>
          <a:xfrm>
            <a:off x="365760" y="1554480"/>
            <a:ext cx="320040" cy="32004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1" name="Num1"/>
          <p:cNvSpPr/>
          <p:nvPr/>
        </p:nvSpPr>
        <p:spPr>
          <a:xfrm>
            <a:off x="365760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</a:rPr>
              <a:t>1</a:t>
            </a:r>
          </a:p>
        </p:txBody>
      </p:sp>
      <p:sp>
        <p:nvSpPr>
          <p:cNvPr id="12" name="Step1Text"/>
          <p:cNvSpPr/>
          <p:nvPr/>
        </p:nvSpPr>
        <p:spPr>
          <a:xfrm>
            <a:off x="777240" y="1524480"/>
            <a:ext cx="8001000" cy="38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>
              <a:buNone/>
            </a:pPr>
            <a:r>
              <a:rPr lang="vi-VN" sz="1300" dirty="0">
                <a:solidFill>
                  <a:srgbClr val="1C2833"/>
                </a:solidFill>
                <a:latin typeface="Calibri" pitchFamily="34" charset="0"/>
              </a:rPr>
              <a:t>Sử dụng .pivot_table() trên df_clean với index='position_level', values='salary_numeric' và aggfunc=['mean','min','max'] để tổng hợp đồng thời 3 chỉ số.</a:t>
            </a:r>
          </a:p>
        </p:txBody>
      </p:sp>
      <p:sp>
        <p:nvSpPr>
          <p:cNvPr id="13" name="Circle2"/>
          <p:cNvSpPr/>
          <p:nvPr/>
        </p:nvSpPr>
        <p:spPr>
          <a:xfrm>
            <a:off x="365760" y="2331720"/>
            <a:ext cx="320040" cy="32004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4" name="Num2"/>
          <p:cNvSpPr/>
          <p:nvPr/>
        </p:nvSpPr>
        <p:spPr>
          <a:xfrm>
            <a:off x="365760" y="2331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</a:rPr>
              <a:t>2</a:t>
            </a:r>
          </a:p>
        </p:txBody>
      </p:sp>
      <p:sp>
        <p:nvSpPr>
          <p:cNvPr id="15" name="Step2Text"/>
          <p:cNvSpPr/>
          <p:nvPr/>
        </p:nvSpPr>
        <p:spPr>
          <a:xfrm>
            <a:off x="777240" y="2301720"/>
            <a:ext cx="8001000" cy="38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>
              <a:buNone/>
            </a:pPr>
            <a:r>
              <a:rPr lang="vi-VN" sz="1300" dirty="0">
                <a:solidFill>
                  <a:srgbClr val="1C2833"/>
                </a:solidFill>
                <a:latin typeface="Calibri" pitchFamily="34" charset="0"/>
              </a:rPr>
              <a:t>Đổi tên cột kết quả thành 'Lương Trung Bình', 'Lương Thấp Nhất', 'Lương Cao Nhất' bằng .rename(columns=...) để dễ đọc.</a:t>
            </a:r>
          </a:p>
        </p:txBody>
      </p:sp>
      <p:sp>
        <p:nvSpPr>
          <p:cNvPr id="16" name="Circle3"/>
          <p:cNvSpPr/>
          <p:nvPr/>
        </p:nvSpPr>
        <p:spPr>
          <a:xfrm>
            <a:off x="365760" y="3108960"/>
            <a:ext cx="320040" cy="32004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7" name="Num3"/>
          <p:cNvSpPr/>
          <p:nvPr/>
        </p:nvSpPr>
        <p:spPr>
          <a:xfrm>
            <a:off x="365760" y="3108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</a:rPr>
              <a:t>3</a:t>
            </a:r>
          </a:p>
        </p:txBody>
      </p:sp>
      <p:sp>
        <p:nvSpPr>
          <p:cNvPr id="18" name="Step3Text"/>
          <p:cNvSpPr/>
          <p:nvPr/>
        </p:nvSpPr>
        <p:spPr>
          <a:xfrm>
            <a:off x="777240" y="3078960"/>
            <a:ext cx="8001000" cy="38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>
              <a:buNone/>
            </a:pPr>
            <a:r>
              <a:rPr lang="vi-VN" sz="1300" dirty="0">
                <a:solidFill>
                  <a:srgbClr val="1C2833"/>
                </a:solidFill>
                <a:latin typeface="Calibri" pitchFamily="34" charset="0"/>
              </a:rPr>
              <a:t>Hiển thị bảng pivot bằng display() để xem trực tiếp phân phối lương theo từng cấp bậc / vị trí.</a:t>
            </a:r>
          </a:p>
        </p:txBody>
      </p:sp>
      <p:sp>
        <p:nvSpPr>
          <p:cNvPr id="21" name="Step4Text"/>
          <p:cNvSpPr/>
          <p:nvPr/>
        </p:nvSpPr>
        <p:spPr>
          <a:xfrm>
            <a:off x="365760" y="3756000"/>
            <a:ext cx="8412480" cy="502920"/>
          </a:xfrm>
          <a:prstGeom prst="rect">
            <a:avLst/>
          </a:prstGeom>
          <a:solidFill>
            <a:srgbClr val="EAFA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1300" i="1" dirty="0">
                <a:solidFill>
                  <a:srgbClr val="1E8449"/>
                </a:solidFill>
                <a:latin typeface="Calibri" pitchFamily="34" charset="0"/>
              </a:rPr>
              <a:t>Kết quả: Giám đốc có lương TB cao nhất (~42,56 tr); Mới tốt nghiệp/Thực tập thấp nhất (~5,58 tr).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CÂU HỎI 6: Mô hình ML có thể dự đoán mức lương không?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EBF5FB"/>
          </a:solidFill>
          <a:ln w="19050">
            <a:solidFill>
              <a:srgbClr val="D6EA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344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sử dụng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52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21488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decision trees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23160" y="118872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EBF5FB"/>
          </a:solidFill>
          <a:ln w="19050">
            <a:solidFill>
              <a:srgbClr val="D6EA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2344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(Sai số TB)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514600" y="15544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11.53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514600" y="21488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Triệu VND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0" y="118872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EBF5FB"/>
          </a:solidFill>
          <a:ln w="19050">
            <a:solidFill>
              <a:srgbClr val="D6EA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2344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63440" y="15544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0.1378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63440" y="21488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số xác định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720840" y="118872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EBF5FB"/>
          </a:solidFill>
          <a:ln w="19050">
            <a:solidFill>
              <a:srgbClr val="D6EA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12280" y="12344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Tập huấn luyện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12280" y="15544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8F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 / 20%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812280" y="21488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2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Biến đầu vào (Features):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337560"/>
            <a:ext cx="201168" cy="201168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246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job_type (Loại hình công việc)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54880" y="3337560"/>
            <a:ext cx="201168" cy="201168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3246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position_level (Cấp bậc)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65760" y="3794760"/>
            <a:ext cx="201168" cy="201168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703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(Thành phố)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754880" y="3794760"/>
            <a:ext cx="201168" cy="201168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3703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exp_numeric (Số năm kinh nghiệm)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65760" y="4343400"/>
            <a:ext cx="8229600" cy="502920"/>
          </a:xfrm>
          <a:prstGeom prst="rect">
            <a:avLst/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Biến mục tiêu (Target): salary_numeric — Mức lương trung bình (Triệu VND)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Q6-Metho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vi-VN" sz="2000" b="1" dirty="0">
                <a:solidFill>
                  <a:srgbClr val="FFFFFF"/>
                </a:solidFill>
                <a:latin typeface="Cambria" pitchFamily="34" charset="0"/>
              </a:rPr>
              <a:t>CÂU HỎI 6: Phương pháp thực hiện</a:t>
            </a:r>
          </a:p>
        </p:txBody>
      </p:sp>
      <p:sp>
        <p:nvSpPr>
          <p:cNvPr id="4" name="MethodHeader"/>
          <p:cNvSpPr/>
          <p:nvPr/>
        </p:nvSpPr>
        <p:spPr>
          <a:xfrm>
            <a:off x="365760" y="1097280"/>
            <a:ext cx="409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sz="1400" b="1" dirty="0">
                <a:solidFill>
                  <a:srgbClr val="1A5276"/>
                </a:solidFill>
                <a:latin typeface="Cambria" pitchFamily="34" charset="0"/>
              </a:rPr>
              <a:t>Phương pháp thực hiện:</a:t>
            </a:r>
          </a:p>
        </p:txBody>
      </p:sp>
      <p:sp>
        <p:nvSpPr>
          <p:cNvPr id="10" name="Circle1"/>
          <p:cNvSpPr/>
          <p:nvPr/>
        </p:nvSpPr>
        <p:spPr>
          <a:xfrm>
            <a:off x="365760" y="1554480"/>
            <a:ext cx="320040" cy="320040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1" name="Num1"/>
          <p:cNvSpPr/>
          <p:nvPr/>
        </p:nvSpPr>
        <p:spPr>
          <a:xfrm>
            <a:off x="365760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</a:rPr>
              <a:t>1</a:t>
            </a:r>
          </a:p>
        </p:txBody>
      </p:sp>
      <p:sp>
        <p:nvSpPr>
          <p:cNvPr id="12" name="Step1Text"/>
          <p:cNvSpPr/>
          <p:nvPr/>
        </p:nvSpPr>
        <p:spPr>
          <a:xfrm>
            <a:off x="777240" y="1524480"/>
            <a:ext cx="8001000" cy="38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>
              <a:buNone/>
            </a:pPr>
            <a:r>
              <a:rPr lang="vi-VN" sz="1300" dirty="0">
                <a:solidFill>
                  <a:srgbClr val="1C2833"/>
                </a:solidFill>
                <a:latin typeface="Calibri" pitchFamily="34" charset="0"/>
              </a:rPr>
              <a:t>Chọn 4 biến đầu vào (job_type, position_level, city, exp_numeric) làm features, salary_numeric làm biến mục tiêu (target).</a:t>
            </a:r>
          </a:p>
        </p:txBody>
      </p:sp>
      <p:sp>
        <p:nvSpPr>
          <p:cNvPr id="13" name="Circle2"/>
          <p:cNvSpPr/>
          <p:nvPr/>
        </p:nvSpPr>
        <p:spPr>
          <a:xfrm>
            <a:off x="365760" y="2331720"/>
            <a:ext cx="320040" cy="320040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4" name="Num2"/>
          <p:cNvSpPr/>
          <p:nvPr/>
        </p:nvSpPr>
        <p:spPr>
          <a:xfrm>
            <a:off x="365760" y="2331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</a:rPr>
              <a:t>2</a:t>
            </a:r>
          </a:p>
        </p:txBody>
      </p:sp>
      <p:sp>
        <p:nvSpPr>
          <p:cNvPr id="15" name="Step2Text"/>
          <p:cNvSpPr/>
          <p:nvPr/>
        </p:nvSpPr>
        <p:spPr>
          <a:xfrm>
            <a:off x="777240" y="2301720"/>
            <a:ext cx="8001000" cy="38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>
              <a:buNone/>
            </a:pPr>
            <a:r>
              <a:rPr lang="vi-VN" sz="1300" dirty="0">
                <a:solidFill>
                  <a:srgbClr val="1C2833"/>
                </a:solidFill>
                <a:latin typeface="Calibri" pitchFamily="34" charset="0"/>
              </a:rPr>
              <a:t>Mã hóa các biến phân loại dạng chữ sang số bằng LabelEncoder().fit_transform() cho từng cột job_type, position_level, city.</a:t>
            </a:r>
          </a:p>
        </p:txBody>
      </p:sp>
      <p:sp>
        <p:nvSpPr>
          <p:cNvPr id="16" name="Circle3"/>
          <p:cNvSpPr/>
          <p:nvPr/>
        </p:nvSpPr>
        <p:spPr>
          <a:xfrm>
            <a:off x="365760" y="3108960"/>
            <a:ext cx="320040" cy="320040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7" name="Num3"/>
          <p:cNvSpPr/>
          <p:nvPr/>
        </p:nvSpPr>
        <p:spPr>
          <a:xfrm>
            <a:off x="365760" y="3108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</a:rPr>
              <a:t>3</a:t>
            </a:r>
          </a:p>
        </p:txBody>
      </p:sp>
      <p:sp>
        <p:nvSpPr>
          <p:cNvPr id="18" name="Step3Text"/>
          <p:cNvSpPr/>
          <p:nvPr/>
        </p:nvSpPr>
        <p:spPr>
          <a:xfrm>
            <a:off x="777240" y="3078960"/>
            <a:ext cx="8001000" cy="38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>
              <a:buNone/>
            </a:pPr>
            <a:r>
              <a:rPr lang="vi-VN" sz="1300" dirty="0">
                <a:solidFill>
                  <a:srgbClr val="1C2833"/>
                </a:solidFill>
                <a:latin typeface="Calibri" pitchFamily="34" charset="0"/>
              </a:rPr>
              <a:t>Chia dữ liệu 80% Train / 20% Test (train_test_split, random_state=42), huấn luyện RandomForestRegressor(n_estimators=100, n_jobs=-1).</a:t>
            </a:r>
          </a:p>
        </p:txBody>
      </p:sp>
      <p:sp>
        <p:nvSpPr>
          <p:cNvPr id="21" name="Step4Text"/>
          <p:cNvSpPr/>
          <p:nvPr/>
        </p:nvSpPr>
        <p:spPr>
          <a:xfrm>
            <a:off x="365760" y="3756000"/>
            <a:ext cx="8412480" cy="502920"/>
          </a:xfrm>
          <a:prstGeom prst="rect">
            <a:avLst/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1300" i="1" dirty="0">
                <a:solidFill>
                  <a:srgbClr val="1A5276"/>
                </a:solidFill>
                <a:latin typeface="Calibri" pitchFamily="34" charset="0"/>
              </a:rPr>
              <a:t>Kết quả: Dự đoán trên tập test, vẽ scatter plot Thực tế vs Dự đoán; RMSE = 11,53 tr, R² = 0,1378.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 - Q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84EA0"/>
          </a:solidFill>
          <a:ln w="12700">
            <a:solidFill>
              <a:srgbClr val="884EA0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228600" y="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vi-VN" sz="1800" b="1" dirty="0">
                <a:solidFill>
                  <a:srgbClr val="FFFFFF"/>
                </a:solidFill>
                <a:latin typeface="Cambria" pitchFamily="34" charset="0"/>
              </a:rPr>
              <a:t>CÂU HỎI 7: Phân cụm thị trường việc làm theo lương &amp; kinh nghiệm?</a:t>
            </a:r>
          </a:p>
        </p:txBody>
      </p:sp>
      <p:sp>
        <p:nvSpPr>
          <p:cNvPr id="4" name="LeftHeader"/>
          <p:cNvSpPr/>
          <p:nvPr/>
        </p:nvSpPr>
        <p:spPr>
          <a:xfrm>
            <a:off x="182880" y="960480"/>
            <a:ext cx="42291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1400" b="1" dirty="0">
                <a:solidFill>
                  <a:srgbClr val="884EA0"/>
                </a:solidFill>
                <a:latin typeface="Cambria" pitchFamily="34" charset="0"/>
              </a:rPr>
              <a:t>Kết quả 3 cụm K-Means:</a:t>
            </a:r>
          </a:p>
        </p:txBody>
      </p:sp>
      <p:sp>
        <p:nvSpPr>
          <p:cNvPr id="5" name="Cum0Box"/>
          <p:cNvSpPr/>
          <p:nvPr/>
        </p:nvSpPr>
        <p:spPr>
          <a:xfrm>
            <a:off x="182880" y="1371600"/>
            <a:ext cx="4229100" cy="1005840"/>
          </a:xfrm>
          <a:prstGeom prst="roundRect">
            <a:avLst>
              <a:gd name="adj" fmla="val 10000"/>
            </a:avLst>
          </a:prstGeom>
          <a:solidFill>
            <a:srgbClr val="F2D7F7"/>
          </a:solidFill>
          <a:ln w="19050">
            <a:solidFill>
              <a:srgbClr val="884EA0"/>
            </a:solidFill>
            <a:prstDash val="solid"/>
          </a:ln>
        </p:spPr>
      </p:sp>
      <p:sp>
        <p:nvSpPr>
          <p:cNvPr id="6" name="Cum0Text"/>
          <p:cNvSpPr/>
          <p:nvPr/>
        </p:nvSpPr>
        <p:spPr>
          <a:xfrm>
            <a:off x="228600" y="1417320"/>
            <a:ext cx="4137120" cy="9601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vi-VN" sz="1200" b="1" dirty="0">
                <a:solidFill>
                  <a:srgbClr val="884EA0"/>
                </a:solidFill>
                <a:latin typeface="Cambria" pitchFamily="34" charset="0"/>
              </a:rPr>
              <a:t>Cụm 0: Nhóm Phổ Thông</a:t>
            </a:r>
          </a:p>
          <a:p>
            <a:pPr marL="0" indent="0">
              <a:buNone/>
            </a:pPr>
            <a:r>
              <a:rPr lang="vi-VN" sz="1100" dirty="0">
                <a:solidFill>
                  <a:srgbClr val="1C2833"/>
                </a:solidFill>
                <a:latin typeface="Calibri" pitchFamily="34" charset="0"/>
              </a:rPr>
              <a:t>Lương TB: ~15.3 tr | KN: ~1.1 năm</a:t>
            </a:r>
          </a:p>
          <a:p>
            <a:pPr marL="0" indent="0">
              <a:buNone/>
            </a:pPr>
            <a:r>
              <a:rPr lang="vi-VN" sz="1000" dirty="0">
                <a:solidFill>
                  <a:srgbClr val="566573"/>
                </a:solidFill>
                <a:latin typeface="Calibri" pitchFamily="34" charset="0"/>
              </a:rPr>
              <a:t>Phần lớn thị trường — lao động phổ thông, ít kinh nghiệm</a:t>
            </a:r>
          </a:p>
        </p:txBody>
      </p:sp>
      <p:sp>
        <p:nvSpPr>
          <p:cNvPr id="7" name="Cum1Box"/>
          <p:cNvSpPr/>
          <p:nvPr/>
        </p:nvSpPr>
        <p:spPr>
          <a:xfrm>
            <a:off x="182880" y="2468880"/>
            <a:ext cx="4229100" cy="1005840"/>
          </a:xfrm>
          <a:prstGeom prst="roundRect">
            <a:avLst>
              <a:gd name="adj" fmla="val 10000"/>
            </a:avLst>
          </a:prstGeom>
          <a:solidFill>
            <a:srgbClr val="FDFEFE"/>
          </a:solidFill>
          <a:ln w="19050">
            <a:solidFill>
              <a:srgbClr val="884EA0"/>
            </a:solidFill>
            <a:prstDash val="solid"/>
          </a:ln>
        </p:spPr>
      </p:sp>
      <p:sp>
        <p:nvSpPr>
          <p:cNvPr id="8" name="Cum1Text"/>
          <p:cNvSpPr/>
          <p:nvPr/>
        </p:nvSpPr>
        <p:spPr>
          <a:xfrm>
            <a:off x="228600" y="2514600"/>
            <a:ext cx="4137120" cy="9601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vi-VN" sz="1200" b="1" dirty="0">
                <a:solidFill>
                  <a:srgbClr val="884EA0"/>
                </a:solidFill>
                <a:latin typeface="Cambria" pitchFamily="34" charset="0"/>
              </a:rPr>
              <a:t>Cụm 1: Nhóm Bất Thường</a:t>
            </a:r>
          </a:p>
          <a:p>
            <a:pPr marL="0" indent="0">
              <a:buNone/>
            </a:pPr>
            <a:r>
              <a:rPr lang="vi-VN" sz="1100" dirty="0">
                <a:solidFill>
                  <a:srgbClr val="1C2833"/>
                </a:solidFill>
                <a:latin typeface="Calibri" pitchFamily="34" charset="0"/>
              </a:rPr>
              <a:t>Lương TB: ~6.8 tr | KN: ~499 năm</a:t>
            </a:r>
          </a:p>
          <a:p>
            <a:pPr marL="0" indent="0">
              <a:buNone/>
            </a:pPr>
            <a:r>
              <a:rPr lang="vi-VN" sz="1000" dirty="0">
                <a:solidFill>
                  <a:srgbClr val="566573"/>
                </a:solidFill>
                <a:latin typeface="Calibri" pitchFamily="34" charset="0"/>
              </a:rPr>
              <a:t>Ngoại lệ dữ liệu — lỗi nhập liệu KN tính bằng tháng</a:t>
            </a:r>
          </a:p>
        </p:txBody>
      </p:sp>
      <p:sp>
        <p:nvSpPr>
          <p:cNvPr id="9" name="Cum2Box"/>
          <p:cNvSpPr/>
          <p:nvPr/>
        </p:nvSpPr>
        <p:spPr>
          <a:xfrm>
            <a:off x="182880" y="3566160"/>
            <a:ext cx="4229100" cy="1005840"/>
          </a:xfrm>
          <a:prstGeom prst="roundRect">
            <a:avLst>
              <a:gd name="adj" fmla="val 10000"/>
            </a:avLst>
          </a:prstGeom>
          <a:solidFill>
            <a:srgbClr val="E8DAEF"/>
          </a:solidFill>
          <a:ln w="19050">
            <a:solidFill>
              <a:srgbClr val="884EA0"/>
            </a:solidFill>
            <a:prstDash val="solid"/>
          </a:ln>
        </p:spPr>
      </p:sp>
      <p:sp>
        <p:nvSpPr>
          <p:cNvPr id="10" name="Cum2Text"/>
          <p:cNvSpPr/>
          <p:nvPr/>
        </p:nvSpPr>
        <p:spPr>
          <a:xfrm>
            <a:off x="228600" y="3611880"/>
            <a:ext cx="4137120" cy="9601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vi-VN" sz="1200" b="1" dirty="0">
                <a:solidFill>
                  <a:srgbClr val="884EA0"/>
                </a:solidFill>
                <a:latin typeface="Cambria" pitchFamily="34" charset="0"/>
              </a:rPr>
              <a:t>Cụm 2: Nhóm Cao Cấp</a:t>
            </a:r>
          </a:p>
          <a:p>
            <a:pPr marL="0" indent="0">
              <a:buNone/>
            </a:pPr>
            <a:r>
              <a:rPr lang="vi-VN" sz="1100" dirty="0">
                <a:solidFill>
                  <a:srgbClr val="1C2833"/>
                </a:solidFill>
                <a:latin typeface="Calibri" pitchFamily="34" charset="0"/>
              </a:rPr>
              <a:t>Lương TB: ~301.5 tr | KN: ~2 năm</a:t>
            </a:r>
          </a:p>
          <a:p>
            <a:pPr marL="0" indent="0">
              <a:buNone/>
            </a:pPr>
            <a:r>
              <a:rPr lang="vi-VN" sz="1000" dirty="0">
                <a:solidFill>
                  <a:srgbClr val="566573"/>
                </a:solidFill>
                <a:latin typeface="Calibri" pitchFamily="34" charset="0"/>
              </a:rPr>
              <a:t>Vị trí lương cao — chuyên gia nước ngoài, C-level, lương USD</a:t>
            </a:r>
          </a:p>
        </p:txBody>
      </p:sp>
      <p:sp>
        <p:nvSpPr>
          <p:cNvPr id="11" name="RightHeader"/>
          <p:cNvSpPr/>
          <p:nvPr/>
        </p:nvSpPr>
        <p:spPr>
          <a:xfrm>
            <a:off x="4594800" y="960480"/>
            <a:ext cx="436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1400" b="1" dirty="0">
                <a:solidFill>
                  <a:srgbClr val="1A5276"/>
                </a:solidFill>
                <a:latin typeface="Cambria" pitchFamily="34" charset="0"/>
              </a:rPr>
              <a:t>Phương pháp thực hiện:</a:t>
            </a:r>
          </a:p>
        </p:txBody>
      </p:sp>
      <p:sp>
        <p:nvSpPr>
          <p:cNvPr id="12" name="C1"/>
          <p:cNvSpPr/>
          <p:nvPr/>
        </p:nvSpPr>
        <p:spPr>
          <a:xfrm>
            <a:off x="4594800" y="1371600"/>
            <a:ext cx="320040" cy="320040"/>
          </a:xfrm>
          <a:prstGeom prst="ellipse">
            <a:avLst/>
          </a:prstGeom>
          <a:solidFill>
            <a:srgbClr val="884EA0"/>
          </a:solidFill>
          <a:ln w="12700">
            <a:solidFill>
              <a:srgbClr val="884EA0"/>
            </a:solidFill>
            <a:prstDash val="solid"/>
          </a:ln>
        </p:spPr>
      </p:sp>
      <p:sp>
        <p:nvSpPr>
          <p:cNvPr id="13" name="N1"/>
          <p:cNvSpPr/>
          <p:nvPr/>
        </p:nvSpPr>
        <p:spPr>
          <a:xfrm>
            <a:off x="4594800" y="1371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</a:rPr>
              <a:t>1</a:t>
            </a:r>
          </a:p>
        </p:txBody>
      </p:sp>
      <p:sp>
        <p:nvSpPr>
          <p:cNvPr id="14" name="T1"/>
          <p:cNvSpPr/>
          <p:nvPr/>
        </p:nvSpPr>
        <p:spPr>
          <a:xfrm>
            <a:off x="4960800" y="1371600"/>
            <a:ext cx="4000800" cy="8001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vi-VN" sz="1100" dirty="0">
                <a:solidFill>
                  <a:srgbClr val="1C2833"/>
                </a:solidFill>
                <a:latin typeface="Calibri" pitchFamily="34" charset="0"/>
              </a:rPr>
              <a:t>Lấy 2 biến định lượng: salary_numeric &amp; exp_numeric → chuẩn hóa Z-Score bằng StandardScaler.</a:t>
            </a:r>
          </a:p>
        </p:txBody>
      </p:sp>
      <p:sp>
        <p:nvSpPr>
          <p:cNvPr id="15" name="C2"/>
          <p:cNvSpPr/>
          <p:nvPr/>
        </p:nvSpPr>
        <p:spPr>
          <a:xfrm>
            <a:off x="4594800" y="2240280"/>
            <a:ext cx="320040" cy="320040"/>
          </a:xfrm>
          <a:prstGeom prst="ellipse">
            <a:avLst/>
          </a:prstGeom>
          <a:solidFill>
            <a:srgbClr val="884EA0"/>
          </a:solidFill>
          <a:ln w="12700">
            <a:solidFill>
              <a:srgbClr val="884EA0"/>
            </a:solidFill>
            <a:prstDash val="solid"/>
          </a:ln>
        </p:spPr>
      </p:sp>
      <p:sp>
        <p:nvSpPr>
          <p:cNvPr id="16" name="N2"/>
          <p:cNvSpPr/>
          <p:nvPr/>
        </p:nvSpPr>
        <p:spPr>
          <a:xfrm>
            <a:off x="4594800" y="2240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</a:rPr>
              <a:t>2</a:t>
            </a:r>
          </a:p>
        </p:txBody>
      </p:sp>
      <p:sp>
        <p:nvSpPr>
          <p:cNvPr id="17" name="T2"/>
          <p:cNvSpPr/>
          <p:nvPr/>
        </p:nvSpPr>
        <p:spPr>
          <a:xfrm>
            <a:off x="4960800" y="2240280"/>
            <a:ext cx="4000800" cy="8001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vi-VN" sz="1100" dirty="0">
                <a:solidFill>
                  <a:srgbClr val="1C2833"/>
                </a:solidFill>
                <a:latin typeface="Calibri" pitchFamily="34" charset="0"/>
              </a:rPr>
              <a:t>Áp dụng KMeans(n_clusters=3, random_state=42, n_init=10) → fit_predict → gán nhãn cluster vào df_clean.</a:t>
            </a:r>
          </a:p>
        </p:txBody>
      </p:sp>
      <p:sp>
        <p:nvSpPr>
          <p:cNvPr id="18" name="C3"/>
          <p:cNvSpPr/>
          <p:nvPr/>
        </p:nvSpPr>
        <p:spPr>
          <a:xfrm>
            <a:off x="4594800" y="3108960"/>
            <a:ext cx="320040" cy="320040"/>
          </a:xfrm>
          <a:prstGeom prst="ellipse">
            <a:avLst/>
          </a:prstGeom>
          <a:solidFill>
            <a:srgbClr val="884EA0"/>
          </a:solidFill>
          <a:ln w="12700">
            <a:solidFill>
              <a:srgbClr val="884EA0"/>
            </a:solidFill>
            <a:prstDash val="solid"/>
          </a:ln>
        </p:spPr>
      </p:sp>
      <p:sp>
        <p:nvSpPr>
          <p:cNvPr id="19" name="N3"/>
          <p:cNvSpPr/>
          <p:nvPr/>
        </p:nvSpPr>
        <p:spPr>
          <a:xfrm>
            <a:off x="4594800" y="3108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</a:rPr>
              <a:t>3</a:t>
            </a:r>
          </a:p>
        </p:txBody>
      </p:sp>
      <p:sp>
        <p:nvSpPr>
          <p:cNvPr id="20" name="T3"/>
          <p:cNvSpPr/>
          <p:nvPr/>
        </p:nvSpPr>
        <p:spPr>
          <a:xfrm>
            <a:off x="4960800" y="3108960"/>
            <a:ext cx="4000800" cy="8001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vi-VN" sz="1100" dirty="0">
                <a:solidFill>
                  <a:srgbClr val="1C2833"/>
                </a:solidFill>
                <a:latin typeface="Calibri" pitchFamily="34" charset="0"/>
              </a:rPr>
              <a:t>Trực quan hóa scatter plot: trục X = kinh nghiệm, trục Y = lương, màu sắc phân biệt 3 cụm.</a:t>
            </a:r>
          </a:p>
        </p:txBody>
      </p:sp>
      <p:sp>
        <p:nvSpPr>
          <p:cNvPr id="21" name="C4"/>
          <p:cNvSpPr/>
          <p:nvPr/>
        </p:nvSpPr>
        <p:spPr>
          <a:xfrm>
            <a:off x="4594800" y="3977640"/>
            <a:ext cx="320040" cy="320040"/>
          </a:xfrm>
          <a:prstGeom prst="ellipse">
            <a:avLst/>
          </a:prstGeom>
          <a:solidFill>
            <a:srgbClr val="884EA0"/>
          </a:solidFill>
          <a:ln w="12700">
            <a:solidFill>
              <a:srgbClr val="884EA0"/>
            </a:solidFill>
            <a:prstDash val="solid"/>
          </a:ln>
        </p:spPr>
      </p:sp>
      <p:sp>
        <p:nvSpPr>
          <p:cNvPr id="22" name="N4"/>
          <p:cNvSpPr/>
          <p:nvPr/>
        </p:nvSpPr>
        <p:spPr>
          <a:xfrm>
            <a:off x="4594800" y="3977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</a:rPr>
              <a:t>4</a:t>
            </a:r>
          </a:p>
        </p:txBody>
      </p:sp>
      <p:sp>
        <p:nvSpPr>
          <p:cNvPr id="23" name="T4"/>
          <p:cNvSpPr/>
          <p:nvPr/>
        </p:nvSpPr>
        <p:spPr>
          <a:xfrm>
            <a:off x="4960800" y="3977640"/>
            <a:ext cx="4000800" cy="8001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vi-VN" sz="1100" dirty="0">
                <a:solidFill>
                  <a:srgbClr val="1C2833"/>
                </a:solidFill>
                <a:latin typeface="Calibri" pitchFamily="34" charset="0"/>
              </a:rPr>
              <a:t>Thống kê bảng đặc trưng từng cụm: Cụm 0 (phổ thông), Cụm 1 (bất thường), Cụm 2 (cao cấp).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Phân</a:t>
            </a: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n-US" sz="2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cụm</a:t>
            </a: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n-US" sz="2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thị</a:t>
            </a: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n-US" sz="2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trường</a:t>
            </a: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n-US" sz="2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việc</a:t>
            </a: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n-US" sz="2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làm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 (K-MEANS CLUSTERING)</a:t>
            </a: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21" y="1155971"/>
            <a:ext cx="5029201" cy="371952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373757" y="1155971"/>
            <a:ext cx="353833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800" dirty="0"/>
              <a:t>[BẢNG THÔNG SỐ ĐẶC TRƯNG CHI TIẾT CỦA TỪNG CỤM VIỆC LÀM]</a:t>
            </a:r>
            <a:endParaRPr lang="en-US" sz="8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7892" y="1521546"/>
            <a:ext cx="3630060" cy="1647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010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LUẬN: Nhận xét kết quả chạy thực nghiệm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841248"/>
          </a:xfrm>
          <a:prstGeom prst="roundRect">
            <a:avLst>
              <a:gd name="adj" fmla="val 8696"/>
            </a:avLst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307592"/>
            <a:ext cx="411480" cy="41148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07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1430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&amp; Thống kê: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481328"/>
            <a:ext cx="7726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 công hoàn toàn. 85.470 bản ghi được phân tích sạch. Biểu đồ ngành nghề, thành phố và lương đều hiện thị rõ ràng, nhất quán.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057400"/>
            <a:ext cx="8595360" cy="841248"/>
          </a:xfrm>
          <a:prstGeom prst="roundRect">
            <a:avLst>
              <a:gd name="adj" fmla="val 8696"/>
            </a:avLst>
          </a:prstGeom>
          <a:solidFill>
            <a:srgbClr val="FDFEFE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267712"/>
            <a:ext cx="411480" cy="41148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67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21031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Xu hướng lương theo kinh nghiệm: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441448"/>
            <a:ext cx="7726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đường xu hướng cho thấy lương tăng đều theo năm kinh nghiệm, đặc biệt bứt phá mạnh từ 3-7 năm. Kết quả có ý nghĩa thực tế.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017520"/>
            <a:ext cx="8595360" cy="841248"/>
          </a:xfrm>
          <a:prstGeom prst="roundRect">
            <a:avLst>
              <a:gd name="adj" fmla="val 8696"/>
            </a:avLst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3227832"/>
            <a:ext cx="411480" cy="4114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227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30632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Regression (Câu 6):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3401568"/>
            <a:ext cx="7726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= 11.53 tr VND; R² = 0.1378. Mô hình giải thích được ~13.78% phương sai — mức thấp, phản ánh dữ liệu lương có phân phối skewed và nhiều ngoại lệ.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977640"/>
            <a:ext cx="8595360" cy="841248"/>
          </a:xfrm>
          <a:prstGeom prst="roundRect">
            <a:avLst>
              <a:gd name="adj" fmla="val 8696"/>
            </a:avLst>
          </a:prstGeom>
          <a:solidFill>
            <a:srgbClr val="FDFEFE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4187952"/>
            <a:ext cx="411480" cy="41148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187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40233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Clustering (Câu 7):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361688"/>
            <a:ext cx="7726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 3 cụm rõ nét: phổ thông (~15tr, &lt;1 năm KN), cao cấp (~301tr), và bất thường (KN=499 năm - lỗi dữ liệu). Kết quả hữu ích cho phân tích thị trường.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4572000" cy="4572000"/>
          </a:xfrm>
          <a:prstGeom prst="ellipse">
            <a:avLst/>
          </a:prstGeom>
          <a:solidFill>
            <a:srgbClr val="2E86C1">
              <a:alpha val="20000"/>
            </a:srgbClr>
          </a:solidFill>
          <a:ln w="12700">
            <a:solidFill>
              <a:srgbClr val="2E86C1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F39C12">
              <a:alpha val="15000"/>
            </a:srgbClr>
          </a:solidFill>
          <a:ln w="12700">
            <a:solidFill>
              <a:srgbClr val="F39C12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CẢM ƠN!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Thị Trường Việc Làm Việt Nam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3154680"/>
            <a:ext cx="2743200" cy="5486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85.470 bản ghi phân tích   •   7 câu hỏi nghiên cứu   •   2 mô hình Machine Learning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|  Pandas  |  Scikit-learn  |  Seaborn  |  Matplotlib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1538</Words>
  <Application>Microsoft Office PowerPoint</Application>
  <PresentationFormat>On-screen Show (16:9)</PresentationFormat>
  <Paragraphs>203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Phân Tích Thị Trường Việc Làm Việt Nam</dc:title>
  <dc:subject>PptxGenJS Presentation</dc:subject>
  <dc:creator>PptxGenJS</dc:creator>
  <cp:lastModifiedBy>DELL</cp:lastModifiedBy>
  <cp:revision>5</cp:revision>
  <dcterms:created xsi:type="dcterms:W3CDTF">2026-06-19T16:37:53Z</dcterms:created>
  <dcterms:modified xsi:type="dcterms:W3CDTF">2026-06-20T15:01:55Z</dcterms:modified>
</cp:coreProperties>
</file>